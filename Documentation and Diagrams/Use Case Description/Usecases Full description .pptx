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57" r:id="rId5"/>
    <p:sldId id="258" r:id="rId6"/>
    <p:sldId id="259" r:id="rId7"/>
    <p:sldId id="264" r:id="rId8"/>
    <p:sldId id="265" r:id="rId9"/>
    <p:sldId id="272" r:id="rId10"/>
    <p:sldId id="289" r:id="rId11"/>
    <p:sldId id="290" r:id="rId12"/>
    <p:sldId id="291" r:id="rId13"/>
    <p:sldId id="269" r:id="rId14"/>
    <p:sldId id="270" r:id="rId15"/>
    <p:sldId id="271" r:id="rId16"/>
    <p:sldId id="266" r:id="rId17"/>
    <p:sldId id="267" r:id="rId18"/>
    <p:sldId id="268" r:id="rId19"/>
    <p:sldId id="278" r:id="rId20"/>
    <p:sldId id="277" r:id="rId21"/>
    <p:sldId id="273" r:id="rId22"/>
    <p:sldId id="274" r:id="rId23"/>
    <p:sldId id="275" r:id="rId24"/>
    <p:sldId id="276" r:id="rId25"/>
    <p:sldId id="279" r:id="rId26"/>
    <p:sldId id="283" r:id="rId27"/>
    <p:sldId id="284" r:id="rId28"/>
    <p:sldId id="285" r:id="rId29"/>
    <p:sldId id="280" r:id="rId30"/>
    <p:sldId id="281" r:id="rId31"/>
    <p:sldId id="282" r:id="rId32"/>
    <p:sldId id="286" r:id="rId33"/>
    <p:sldId id="287" r:id="rId34"/>
    <p:sldId id="260" r:id="rId35"/>
    <p:sldId id="28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319751"/>
              </p:ext>
            </p:extLst>
          </p:nvPr>
        </p:nvGraphicFramePr>
        <p:xfrm>
          <a:off x="0" y="1"/>
          <a:ext cx="12192000" cy="982042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UC-01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Track Goal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allow the user to monitor their progress against pre-defined energy or resource saving goals.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user must be logged into the system and have at least one active goal set.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displays an updated progress visualization and saves the current status.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 retrieval failure from sensors or no active goals found to track.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Homeowner, Tenant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user selects the "Track Goal Progress" option from the dashboard.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User requests to view goal progress.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2. System retrieves real-time consumption data.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3. System calculates the difference between current consumption and the set goal.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4. System renders a progress bar or percentage chart.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Alt 1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If the goal is achieved, the system triggers a "Goal Accomplished" notification and initiates the </a:t>
                      </a:r>
                      <a:r>
                        <a:rPr lang="en-US" b="1" dirty="0"/>
                        <a:t>Reward Points</a:t>
                      </a:r>
                      <a:r>
                        <a:rPr lang="en-US" dirty="0"/>
                        <a:t> use case.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35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69794"/>
              </p:ext>
            </p:extLst>
          </p:nvPr>
        </p:nvGraphicFramePr>
        <p:xfrm>
          <a:off x="0" y="1"/>
          <a:ext cx="12192000" cy="899746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UC-02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 Budget Overrun Alert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 automatically notify the user when their resource spending exceeds the allocated budget.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budget limit must be set in the system settings.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 alert is logged in the system and a notification is sent to the user.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Notification service failure or missing budget parameters.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(Automated)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Consumption data exceeds the user-defined budget threshold </a:t>
                      </a:r>
                      <a:endParaRPr lang="ar-E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(Triggered via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&lt;&lt;include&gt;&gt;</a:t>
                      </a:r>
                      <a:r>
                        <a:rPr lang="en-US" dirty="0"/>
                        <a:t> from Track Goal Progress).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System monitors consumption levels continuously.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2. System detects that current costs have exceeded the budget limit.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3. System generates an alert message specifying the overrun amount.</a:t>
                      </a:r>
                    </a:p>
                    <a:p>
                      <a:pPr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4. System pushes the notification to the user’s device.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Alt 1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If the user is offline, the alert is queued and displayed immediately upon the next login.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21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972876"/>
              </p:ext>
            </p:extLst>
          </p:nvPr>
        </p:nvGraphicFramePr>
        <p:xfrm>
          <a:off x="0" y="1"/>
          <a:ext cx="12192000" cy="844882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UC-03 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Reward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 provide users with digital rewards/points for sustainable behavior and hitting saving targets.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user must successfully complete a task (e.g., Eco Challenge) or reach a saving milestone.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user's account balance is updated with new points.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 connection error prevents point incrementing.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Homeowner, Tenant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Successful completion of an "Eco Challenge" or hitting a "Track Goal Progress" milestone.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 System verifies the completion of a rewarding activity.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2. System calculates points based on the difficulty or impact of the achievement.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3. System updates the user’s "Reward Balance" in the database.</a:t>
                      </a:r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4. System notifies the user of the newly earned points.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Alt 1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If the user reaches a specific tier (e.g., Gold), the system unlocks additional "Advanced Analytics" features.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71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154586"/>
              </p:ext>
            </p:extLst>
          </p:nvPr>
        </p:nvGraphicFramePr>
        <p:xfrm>
          <a:off x="0" y="1"/>
          <a:ext cx="12192000" cy="958575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UC-04 – View Resource Usage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Allows the Homeowner or Tenant to view the current and historical energy/resource consumption of the home in real-time.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is logged in to the system.</a:t>
                      </a:r>
                      <a:endParaRPr lang="ar-E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Sensors are connected and transmitting data. </a:t>
                      </a:r>
                      <a:endParaRPr lang="ar-E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has processed sensor data successfully.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Resource usage data is displayed to the user.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logs the viewing activity.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Sensor data unavailable → System displays last cached data with a warning message.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Network failure → System notifies user that live data cannot be fetched.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historical data found → System displays empty state with a prompt to wait for data collection.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Primary: Homeowner, Tenant.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Secondary: System (provides data).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clicks on "View Resource Usage" from the dashboard.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1-User logs in and navigates to the Resource Usage section.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2-System retrieves current sensor data via Process Sensor Data.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3-System displays real-time resource usage (electricity, water, gas).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4-User can filter by date range, appliance, or resource type.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5-System updates the view accordingly User reviews the data.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Alt 1:</a:t>
                      </a:r>
                      <a:r>
                        <a:rPr lang="en-US" dirty="0"/>
                        <a:t> If user selects a specific appliance → System filters usage data for that appliance only.</a:t>
                      </a:r>
                    </a:p>
                    <a:p>
                      <a:r>
                        <a:rPr lang="en-US" i="1" dirty="0"/>
                        <a:t>Alt 2:</a:t>
                      </a:r>
                      <a:r>
                        <a:rPr lang="en-US" dirty="0"/>
                        <a:t> If user is a Tenant → System shows only the data relevant to their unit.</a:t>
                      </a:r>
                    </a:p>
                    <a:p>
                      <a:r>
                        <a:rPr lang="en-US" i="1" dirty="0"/>
                        <a:t>Alt 3:</a:t>
                      </a:r>
                      <a:r>
                        <a:rPr lang="en-US" dirty="0"/>
                        <a:t> If data is delayed → System shows a loading indicator and retries automatically.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594569"/>
              </p:ext>
            </p:extLst>
          </p:nvPr>
        </p:nvGraphicFramePr>
        <p:xfrm>
          <a:off x="0" y="1"/>
          <a:ext cx="12192000" cy="1024859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UC-05 – View Cost Prediction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Allows the Homeowner to view predicted future energy/resource costs based on current usage patterns and historical data.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is logged in</a:t>
                      </a:r>
                    </a:p>
                    <a:p>
                      <a:r>
                        <a:rPr lang="en-US" dirty="0"/>
                        <a:t>Sufficient historical usage data exists (at least 7 days)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cost for the upcoming period is displayed</a:t>
                      </a:r>
                    </a:p>
                    <a:p>
                      <a:r>
                        <a:rPr lang="en-US" dirty="0"/>
                        <a:t>System saves the prediction result for future comparison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Insufficient data for prediction → System notifies user and suggests waiting for more data to be collected</a:t>
                      </a:r>
                    </a:p>
                    <a:p>
                      <a:r>
                        <a:rPr lang="en-US" dirty="0"/>
                        <a:t>Prediction model failure → System displays last available prediction with a warning</a:t>
                      </a:r>
                    </a:p>
                    <a:p>
                      <a:r>
                        <a:rPr lang="en-US" dirty="0"/>
                        <a:t>Budget not set → System displays prediction without budget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Primary: Homeowner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Secondary: System (runs prediction model)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clicks on "View Cost Prediction" from the dashboard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1-User navigates to the Cost Prediction section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2-System retrieves historical usage data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3-System runs the cost prediction algorithm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4-System displays predicted cost for the next billing cycle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5-User reviews the predicted costs and potential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Alt 1:</a:t>
                      </a:r>
                      <a:r>
                        <a:rPr lang="en-US" dirty="0"/>
                        <a:t> If budget is set → System highlights if predicted cost exceeds budget and triggers Budget Overrun Alert</a:t>
                      </a:r>
                    </a:p>
                    <a:p>
                      <a:r>
                        <a:rPr lang="en-US" i="1" dirty="0"/>
                        <a:t>Alt 2:</a:t>
                      </a:r>
                      <a:r>
                        <a:rPr lang="en-US" dirty="0"/>
                        <a:t> User changes the prediction period (weekly/monthly) → System recalculates and updates display</a:t>
                      </a:r>
                    </a:p>
                    <a:p>
                      <a:r>
                        <a:rPr lang="en-US" i="1" dirty="0"/>
                        <a:t>Alt 3:</a:t>
                      </a:r>
                      <a:r>
                        <a:rPr lang="en-US" dirty="0"/>
                        <a:t> If historical data is less than 7 days → System shows a rough estimate with a low-confidence warning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2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349912"/>
              </p:ext>
            </p:extLst>
          </p:nvPr>
        </p:nvGraphicFramePr>
        <p:xfrm>
          <a:off x="0" y="1"/>
          <a:ext cx="12192000" cy="1150599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UC-06 </a:t>
                      </a:r>
                      <a:r>
                        <a:rPr lang="en-US" b="0" dirty="0"/>
                        <a:t>– View Carbon Footprint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Allows the Homeowner or Tenant to view the estimated carbon footprint generated by their home's energy and resource consumption.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is logged in.</a:t>
                      </a:r>
                    </a:p>
                    <a:p>
                      <a:r>
                        <a:rPr lang="en-US" dirty="0"/>
                        <a:t>Resource usage data is available.</a:t>
                      </a:r>
                    </a:p>
                    <a:p>
                      <a:r>
                        <a:rPr lang="en-US" dirty="0"/>
                        <a:t>Carbon emission factors are configured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Carbon footprint data is displayed in a readable format (kg CO₂)</a:t>
                      </a:r>
                    </a:p>
                    <a:p>
                      <a:r>
                        <a:rPr lang="en-US" dirty="0"/>
                        <a:t>System logs the footprint report for tracking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Emission factors not configured → System notifies admin and displays a setup required message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Usage data unavailable → System cannot calculate footprint and displays an error message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Calculation error → System logs the error and displays last successfully calculated footprint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Primary: Homeowner, Tenant</a:t>
                      </a:r>
                    </a:p>
                    <a:p>
                      <a:r>
                        <a:rPr lang="en-US" dirty="0"/>
                        <a:t>Secondary: System (calculates emissions)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clicks on "View Carbon Footprint" from the dashboard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1-User navigates to the Carbon Footprint section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2-System retrieves current and historical resource usage data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3-System applies carbon emission factors to calculate total CO₂ equivalent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4-System displays the carbon footprint (daily / monthly / yearly)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5-System compares current footprint to previous periods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6-User reviews their environmental impact and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Alt 1:</a:t>
                      </a:r>
                      <a:r>
                        <a:rPr lang="en-US" dirty="0"/>
                        <a:t> User filters by specific resource type (electricity/gas/water) → System recalculates and displays footprint for selected resource only</a:t>
                      </a:r>
                    </a:p>
                    <a:p>
                      <a:r>
                        <a:rPr lang="en-US" i="1" dirty="0"/>
                        <a:t>Alt 2:</a:t>
                      </a:r>
                      <a:r>
                        <a:rPr lang="en-US" dirty="0"/>
                        <a:t> If footprint exceeds a threshold → System suggests eco-friendly tips or triggers Eco Challenge</a:t>
                      </a:r>
                    </a:p>
                    <a:p>
                      <a:r>
                        <a:rPr lang="en-US" i="1" dirty="0"/>
                        <a:t>Alt 3:</a:t>
                      </a:r>
                      <a:r>
                        <a:rPr lang="en-US" dirty="0"/>
                        <a:t> Guest user access → System displays general home footprint without personal breakdown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97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051307"/>
              </p:ext>
            </p:extLst>
          </p:nvPr>
        </p:nvGraphicFramePr>
        <p:xfrm>
          <a:off x="0" y="1"/>
          <a:ext cx="12192000" cy="115135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UC-07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Control Appliance (On/Off)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use case allows the tenant to turn an appliance on or off through the smart system.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1.The tenant is logged into the system.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2.The appliance is connected to the system and is controllable.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3.The appliance is visible in the user interface.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1.The appliance state is updated (On or Off).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2.The new state is saved in the system.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3.A notification will be sent.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1.If connection fails: show error, state unchanged. </a:t>
                      </a:r>
                    </a:p>
                    <a:p>
                      <a:r>
                        <a:rPr lang="en-US" dirty="0"/>
                        <a:t>2.If no response: show </a:t>
                      </a:r>
                      <a:r>
                        <a:rPr lang="en-US" i="1" dirty="0"/>
                        <a:t>Pending</a:t>
                      </a:r>
                      <a:r>
                        <a:rPr lang="en-US" dirty="0"/>
                        <a:t> or </a:t>
                      </a:r>
                      <a:r>
                        <a:rPr lang="en-US" i="1" dirty="0"/>
                        <a:t>Unreachable</a:t>
                      </a:r>
                      <a:r>
                        <a:rPr lang="en-US" dirty="0"/>
                        <a:t>. </a:t>
                      </a:r>
                    </a:p>
                    <a:p>
                      <a:r>
                        <a:rPr lang="en-US" dirty="0"/>
                        <a:t>3.If appliance is offline: disable control. </a:t>
                      </a:r>
                    </a:p>
                    <a:p>
                      <a:r>
                        <a:rPr lang="en-US" dirty="0"/>
                        <a:t>4.If command fails: revert to previous state. </a:t>
                      </a:r>
                    </a:p>
                    <a:p>
                      <a:r>
                        <a:rPr lang="en-US" dirty="0"/>
                        <a:t>5.If system error occurs: preserve last state. </a:t>
                      </a:r>
                    </a:p>
                    <a:p>
                      <a:r>
                        <a:rPr lang="en-US" dirty="0"/>
                        <a:t>6.If invalid action: block action with warning.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Tenant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when the tenant selects an appliance and presses the </a:t>
                      </a:r>
                      <a:r>
                        <a:rPr lang="en-US" b="1" dirty="0"/>
                        <a:t>On/Off (toggle) control</a:t>
                      </a:r>
                      <a:r>
                        <a:rPr lang="en-US" dirty="0"/>
                        <a:t> in the system interface.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1.The tenant selects an appliance from the system interface. </a:t>
                      </a:r>
                    </a:p>
                    <a:p>
                      <a:r>
                        <a:rPr lang="en-US" dirty="0"/>
                        <a:t>2.The system displays the current state (On/Off). </a:t>
                      </a:r>
                    </a:p>
                    <a:p>
                      <a:r>
                        <a:rPr lang="en-US" dirty="0"/>
                        <a:t>3.The tenant presses the toggle button. </a:t>
                      </a:r>
                    </a:p>
                    <a:p>
                      <a:r>
                        <a:rPr lang="en-US" dirty="0"/>
                        <a:t>4.The system sends the command to the appliance. </a:t>
                      </a:r>
                    </a:p>
                    <a:p>
                      <a:r>
                        <a:rPr lang="en-US" dirty="0"/>
                        <a:t>5.The appliance successfully executes the command. </a:t>
                      </a:r>
                    </a:p>
                    <a:p>
                      <a:r>
                        <a:rPr lang="en-US" dirty="0"/>
                        <a:t>6.The system receives confirmation. </a:t>
                      </a:r>
                    </a:p>
                    <a:p>
                      <a:r>
                        <a:rPr lang="en-US" dirty="0"/>
                        <a:t>7.The system updates and displays the new state. 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</a:t>
                      </a:r>
                      <a:r>
                        <a:rPr lang="en-US" b="1" dirty="0"/>
                        <a:t>: Communication Failure : </a:t>
                      </a:r>
                      <a:r>
                        <a:rPr lang="en-US" dirty="0"/>
                        <a:t>If the system cannot send the command, it shows an error message and the state remains unchanged. </a:t>
                      </a:r>
                    </a:p>
                    <a:p>
                      <a:r>
                        <a:rPr lang="en-US" b="0" dirty="0"/>
                        <a:t>Alt2:</a:t>
                      </a:r>
                      <a:r>
                        <a:rPr lang="en-US" b="1" dirty="0"/>
                        <a:t> Appliance Offline: If</a:t>
                      </a:r>
                      <a:r>
                        <a:rPr lang="en-US" dirty="0"/>
                        <a:t> the appliance is offline, the system disables control and informs the tenant. </a:t>
                      </a:r>
                    </a:p>
                    <a:p>
                      <a:r>
                        <a:rPr lang="en-US" b="0" dirty="0"/>
                        <a:t>Alt3</a:t>
                      </a:r>
                      <a:r>
                        <a:rPr lang="en-US" b="1" dirty="0"/>
                        <a:t>: No Response / Delay: If</a:t>
                      </a:r>
                      <a:r>
                        <a:rPr lang="en-US" dirty="0"/>
                        <a:t> the appliance does not respond in time, the system shows </a:t>
                      </a:r>
                      <a:r>
                        <a:rPr lang="en-US" i="1" dirty="0"/>
                        <a:t>Pending</a:t>
                      </a:r>
                      <a:r>
                        <a:rPr lang="en-US" dirty="0"/>
                        <a:t> or </a:t>
                      </a:r>
                      <a:r>
                        <a:rPr lang="en-US" i="1" dirty="0"/>
                        <a:t>Unreachable</a:t>
                      </a:r>
                      <a:r>
                        <a:rPr lang="en-US" dirty="0"/>
                        <a:t> and allows retry. </a:t>
                      </a:r>
                    </a:p>
                    <a:p>
                      <a:r>
                        <a:rPr lang="en-US" b="0" dirty="0"/>
                        <a:t>Alt4</a:t>
                      </a:r>
                      <a:r>
                        <a:rPr lang="en-US" b="1" dirty="0"/>
                        <a:t>: Command Execution Failure: If</a:t>
                      </a:r>
                      <a:r>
                        <a:rPr lang="en-US" dirty="0"/>
                        <a:t> the appliance fails to execute the command, the system restores the previous state and shows an error. 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32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641024"/>
              </p:ext>
            </p:extLst>
          </p:nvPr>
        </p:nvGraphicFramePr>
        <p:xfrm>
          <a:off x="0" y="1"/>
          <a:ext cx="12192000" cy="1023191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UC-08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Manage Appliances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use allows the Homeowner to manage smart home appliances, including adding new devices, updating their settings, removing them, and controlling their operational state(on/off)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1.The user is logged into the system.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2.The appliance is connected and registered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1.The appliance list is successfully updated 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2.All changes are saved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Connection Failure: The system cannot connect to the appliance → display error message.</a:t>
                      </a:r>
                    </a:p>
                    <a:p>
                      <a:r>
                        <a:rPr lang="en-US" dirty="0"/>
                        <a:t>2.Invalid Input: The user enters incorrect or incomplete data → prompt for correction.</a:t>
                      </a:r>
                    </a:p>
                    <a:p>
                      <a:r>
                        <a:rPr lang="en-US" dirty="0"/>
                        <a:t>3.Appliance Already Exists: Duplicate appliance detected → reject addition.</a:t>
                      </a:r>
                    </a:p>
                    <a:p>
                      <a:r>
                        <a:rPr lang="en-US" dirty="0"/>
                        <a:t>4.Appliance Not Found: Selected appliance does not exist → show warning.</a:t>
                      </a:r>
                    </a:p>
                    <a:p>
                      <a:r>
                        <a:rPr lang="en-US" dirty="0"/>
                        <a:t>5.Deletion Failed: Appliance cannot be deleted due to dependencies → notify user.</a:t>
                      </a:r>
                    </a:p>
                    <a:p>
                      <a:r>
                        <a:rPr lang="en-US" dirty="0"/>
                        <a:t>6.Unauthorized Access: User lacks permission → block action.</a:t>
                      </a:r>
                    </a:p>
                    <a:p>
                      <a:r>
                        <a:rPr lang="en-US" dirty="0"/>
                        <a:t>7.System Error: Unexpected error occurs → show general error message.</a:t>
                      </a:r>
                    </a:p>
                    <a:p>
                      <a:r>
                        <a:rPr lang="en-US" dirty="0"/>
                        <a:t>8.Network Failure: Internet connection is lost → notify user and allow retry.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 case is triggered when the Homeowner selects the "Manage Appliances" option from the system interface (e.g., dashboard or main menu).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Homeowner selects Manage Appliances, views the appliance list, performs an action (add, edit, delete, or control), and the system processes the request successfully and updates the data.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Add Appliance Failure: If the system cannot connect to the appliance → an error message is displayed.</a:t>
                      </a:r>
                    </a:p>
                    <a:p>
                      <a:r>
                        <a:rPr lang="en-US" b="0" dirty="0"/>
                        <a:t>Alt2: Appliance Not Found: If the selected appliance does not exist → a warning message is shown.</a:t>
                      </a:r>
                    </a:p>
                    <a:p>
                      <a:r>
                        <a:rPr lang="en-US" b="0" dirty="0"/>
                        <a:t>Alt3: Connection Failure: If connectivity is lost → the process is aborted and an error is shown.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631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921444"/>
              </p:ext>
            </p:extLst>
          </p:nvPr>
        </p:nvGraphicFramePr>
        <p:xfrm>
          <a:off x="0" y="1"/>
          <a:ext cx="12191999" cy="1101442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0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60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UC-09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Identify Vampire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921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use case allows the system to analyze energy consumption data and identify vampire power from appliances that consume electricity even when not actively in 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60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 Appliances are connected to the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2.Energy consumption data is available from sensors.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9217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 Appliances with vampire power usage are identified.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2.The system logs and stores the analysis results.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3.The user is notified.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11982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1.Sensor Failure: Unable to collect data → log error.</a:t>
                      </a:r>
                    </a:p>
                    <a:p>
                      <a:r>
                        <a:rPr lang="en-US" dirty="0"/>
                        <a:t>2.Data Inaccuracy: Incorrect readings → request recalibration.</a:t>
                      </a:r>
                    </a:p>
                    <a:p>
                      <a:r>
                        <a:rPr lang="en-US" dirty="0"/>
                        <a:t>3.System Error: Analysis fails → display/log error.</a:t>
                      </a:r>
                    </a:p>
                    <a:p>
                      <a:r>
                        <a:rPr lang="en-US" dirty="0"/>
                        <a:t>4.Connection Failure: Devices not responding → retry or notify user.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45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 Actor: 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 Actor: Homeowner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645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automatically initiates analysis periodically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or when new energy data is received.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751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1.The system collects energy consumption data from connected appliances.</a:t>
                      </a:r>
                    </a:p>
                    <a:p>
                      <a:r>
                        <a:rPr lang="en-US" dirty="0"/>
                        <a:t>2.The system analyzes the collected data.</a:t>
                      </a:r>
                    </a:p>
                    <a:p>
                      <a:r>
                        <a:rPr lang="en-US" dirty="0"/>
                        <a:t>3.The system detects appliances consuming power in standby mode.</a:t>
                      </a:r>
                    </a:p>
                    <a:p>
                      <a:r>
                        <a:rPr lang="en-US" dirty="0"/>
                        <a:t>4.The system identifies these appliances as vampire power sources.</a:t>
                      </a:r>
                    </a:p>
                    <a:p>
                      <a:r>
                        <a:rPr lang="en-US" dirty="0"/>
                        <a:t>5.The system records the results in the system database.</a:t>
                      </a:r>
                    </a:p>
                    <a:p>
                      <a:r>
                        <a:rPr lang="en-US" dirty="0"/>
                        <a:t>6.The system notifies the Homeowner with the findings.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34103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No Vampire Power Detected</a:t>
                      </a:r>
                    </a:p>
                    <a:p>
                      <a:r>
                        <a:rPr lang="en-US" b="0" dirty="0"/>
                        <a:t>1.The system analyzes the data.</a:t>
                      </a:r>
                    </a:p>
                    <a:p>
                      <a:r>
                        <a:rPr lang="en-US" b="0" dirty="0"/>
                        <a:t>2.No standby power consumption is detected.</a:t>
                      </a:r>
                    </a:p>
                    <a:p>
                      <a:r>
                        <a:rPr lang="en-US" b="0" dirty="0"/>
                        <a:t>3.The system records normal status.</a:t>
                      </a:r>
                    </a:p>
                    <a:p>
                      <a:r>
                        <a:rPr lang="en-US" b="0" dirty="0"/>
                        <a:t>Alt2: Insufficient Data</a:t>
                      </a:r>
                    </a:p>
                    <a:p>
                      <a:r>
                        <a:rPr lang="en-US" b="0" dirty="0"/>
                        <a:t>1.The system detects that available data is incomplete.</a:t>
                      </a:r>
                    </a:p>
                    <a:p>
                      <a:r>
                        <a:rPr lang="en-US" b="0" dirty="0"/>
                        <a:t>2.The system postpones the analysis.</a:t>
                      </a:r>
                    </a:p>
                    <a:p>
                      <a:r>
                        <a:rPr lang="en-US" b="0" dirty="0"/>
                        <a:t>3.The system waits for more data.</a:t>
                      </a:r>
                    </a:p>
                    <a:p>
                      <a:r>
                        <a:rPr lang="en-US" b="0" dirty="0"/>
                        <a:t>Alt3: Low Consumption Devices Ignored</a:t>
                      </a:r>
                    </a:p>
                    <a:p>
                      <a:r>
                        <a:rPr lang="en-US" b="0" dirty="0"/>
                        <a:t>1.The system detects very low standby usage.</a:t>
                      </a:r>
                    </a:p>
                    <a:p>
                      <a:r>
                        <a:rPr lang="en-US" b="0" dirty="0"/>
                        <a:t>2.The system ignores it based on a predefined threshold.</a:t>
                      </a:r>
                    </a:p>
                    <a:p>
                      <a:r>
                        <a:rPr lang="en-US" b="0" dirty="0"/>
                        <a:t>3.The system does not flag the appliance.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68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A66C-FC49-1998-E385-493C2824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A9E123-5BA5-C718-B3A4-95B9DCFB179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05762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UC-10 – Compare Usage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Allows the user to compare resource usage across different time periods or between multiple appliances.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user must be logged in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Usage data must be available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Comparison results are displayed (charts or numerical values)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no data is available → the system displays a "No data available" message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data retrieval fails → the system displays an error message.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Home Owner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 user selects the "Compare Usage" feature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ar-EG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rtl="1">
                        <a:buFont typeface="+mj-lt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1-</a:t>
                      </a:r>
                      <a:r>
                        <a:rPr lang="en-US" dirty="0"/>
                        <a:t>The user selects "Compare Usage" .</a:t>
                      </a:r>
                      <a:endParaRPr lang="ar-EG" dirty="0"/>
                    </a:p>
                    <a:p>
                      <a:pPr marL="0" indent="0" algn="l" rtl="1">
                        <a:buFont typeface="+mj-lt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2-</a:t>
                      </a:r>
                      <a:r>
                        <a:rPr lang="en-US" dirty="0"/>
                        <a:t>The system prompts for comparison criteria. </a:t>
                      </a:r>
                      <a:endParaRPr lang="ar-EG" dirty="0"/>
                    </a:p>
                    <a:p>
                      <a:pPr marL="0" indent="0" algn="l" rtl="1">
                        <a:buFont typeface="+mj-lt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3-</a:t>
                      </a:r>
                      <a:r>
                        <a:rPr lang="en-US" dirty="0"/>
                        <a:t>The user selects time period or appliances .</a:t>
                      </a:r>
                      <a:endParaRPr lang="ar-EG" dirty="0"/>
                    </a:p>
                    <a:p>
                      <a:pPr marL="0" indent="0" algn="l" rtl="1">
                        <a:buFont typeface="+mj-lt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4-</a:t>
                      </a:r>
                      <a:r>
                        <a:rPr lang="en-US" dirty="0"/>
                        <a:t>The system retrieves the required data .</a:t>
                      </a:r>
                      <a:endParaRPr lang="ar-EG" dirty="0"/>
                    </a:p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5-</a:t>
                      </a:r>
                      <a:r>
                        <a:rPr lang="en-US" dirty="0"/>
                        <a:t>The system displays the comparison results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Alt1: The user selects a time range with no available data 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Alt2: The user selects an unavailable appliance 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81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05762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UC-11 – Historical Data Analysis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Allows the user to analyze past resource usage and identify patterns and trends.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user must be logged in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Historical data must be available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Analytical insights and trends are displayed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insufficient data is available → the system displays a notification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processing fails → the system displays an error message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Home Owner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 user selects "Historical Data Analysis“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user selects "Historical Data Analysis“.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user selects a time range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processes historical data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analyzes patterns and trends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displays the results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Alt1: The user selects a very short time range 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Alt2: The data is incomplete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62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21FE-6041-B091-2D40-BD1FAF68C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5E3492-39EB-B94B-6847-3FFC1C956CC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4200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UC-12 – Set Budget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Allows the user to define a budget limit for resource consumption to avoid overuse.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 user must be logged in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 budget is saved 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Alerts are activated when the budget is exceeded 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invalid input is entered → the system displays an error message 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saving fails → the system prompts the user to retry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Home Owner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 user selects "Set Budget“.</a:t>
                      </a:r>
                      <a:r>
                        <a:rPr lang="ar-EG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user selects "Set Budget"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user enters the budget value.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user selects the time period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validates the input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saves the budget 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system links it to alert notifications 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Alt1: The user updates an existing budget 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Alt2: The user cancels the operation 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8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5273"/>
              </p:ext>
            </p:extLst>
          </p:nvPr>
        </p:nvGraphicFramePr>
        <p:xfrm>
          <a:off x="2" y="1"/>
          <a:ext cx="12191998" cy="1118047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54413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6737585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7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UC-13 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Create Automation Rule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922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 the homeowner to define trigger-based rules that automatically control appliances or resources without manual intervention.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922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Homeowner is authenticated and has an active session.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least one appliance or sensor is registered in the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45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Automation rule is active; the system will execute it automatically whenever trigger conditions are met.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1199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•Rule fails to save (DB timeout) — system rolls back, displays an error message,                  and retains the user's input so they can retry.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•Rule remains in draft state; no automation is triggered.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1199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•Homeowner </a:t>
                      </a:r>
                      <a:endParaRPr lang="ar-EG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•System (secondary)</a:t>
                      </a:r>
                    </a:p>
                    <a:p>
                      <a:br>
                        <a:rPr lang="en-US" dirty="0"/>
                      </a:b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645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Homeowner selects "Create automation rule" from the dashboard.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3412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 Home owner opens the automation section and selects "New rule."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 Home owner specifies trigger condition (e.g., time schedule, sensor threshold, usage limit).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 Home owner selects target appliance and desired action (on / off / adjust).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4- System </a:t>
                      </a:r>
                      <a:r>
                        <a:rPr 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Process Sensor Data to validate live sensor availability.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 System confirms rule validity and saves it.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6- System confirms activation and displays the rule in the active rules list.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4758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required sensor is offline, system warns the user and saves the rule in a paused state.</a:t>
                      </a:r>
                    </a:p>
                    <a:p>
                      <a:r>
                        <a:rPr lang="en-US" b="0" dirty="0"/>
                        <a:t>Alt2: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conflicting rule already exists, system alerts the homeowner and requests confirmation before overriding.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6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37187"/>
              </p:ext>
            </p:extLst>
          </p:nvPr>
        </p:nvGraphicFramePr>
        <p:xfrm>
          <a:off x="9728" y="0"/>
          <a:ext cx="12191999" cy="950841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972287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7219712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660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</a:t>
                      </a:r>
                      <a:r>
                        <a:rPr lang="ar-EG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Process Sensor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65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Collect, validate, and store real-time readings from all connected home sensors so that the system can support automation, anomaly detection, and reporting.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9274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•At least one sensor or smart appliance is registered and connected to the network.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•System data-processing service is running.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49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Up-to-date sensor readings are stored and accessible to all dependent use cases (automation, anomaly detection, reporting)..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9274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•Sensor communication timeout — system logs the failed poll, skips that sensor for the current cycle, and notifies the homeowner via Receive Notifications.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•Last known reading is retained; dependent use cases continue with stale-data warning.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95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(primary)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401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Invoked automatically by Create Automation Rule (include), or by a scheduled polling interval.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96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 System polls all registered sensors for current readings.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 Raw data is normalized and validated against expected value ranges.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 Valid readings are persisted to the database with a timestamp.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4- Processed data is made available to automation rules, reports, and anomaly detection.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 System returns a success status to the calling use case.</a:t>
                      </a:r>
                    </a:p>
                    <a:p>
                      <a:br>
                        <a:rPr lang="en-US" dirty="0"/>
                      </a:b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96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reading is out of expected range, system flags it as anomalous and triggers Detect Anomalies.</a:t>
                      </a:r>
                    </a:p>
                    <a:p>
                      <a:r>
                        <a:rPr lang="en-US" b="0" dirty="0"/>
                        <a:t>Alt2: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a sensor is offline, system logs the failure and marks that sensor as unavailable.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984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97200"/>
              </p:ext>
            </p:extLst>
          </p:nvPr>
        </p:nvGraphicFramePr>
        <p:xfrm>
          <a:off x="0" y="1"/>
          <a:ext cx="12191999" cy="1280599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201974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6990025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553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UC-15  </a:t>
                      </a:r>
                      <a:r>
                        <a:rPr lang="en-US" b="0" dirty="0"/>
                        <a:t>–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Eco 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11212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Motivate the homeowner and tenant to reduce energy and resource consumption by presenting time-limited sustainability challenges with progress tracking and reward points.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1380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•Actor is authenticated.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•At least one active resource usage reading exists (View Resource Usage is available).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•An eco challenge is currently published by the system.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862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Challenge outcome (success or failure) is recorded; reward points are updated in the actor's profile if the goal was achieved.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1380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•Usage data unavailable during evaluation — system pauses challenge progress calculation, notifies the actor, and retries at the next scheduled interval. Challenge deadline is not extended; partial data is used if the retry succeeds.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11212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•Homeowner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•Tenant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•System (secondary)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862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 opens the Eco Challenge section, or system pushes a new challenge notification based on usage patterns.</a:t>
                      </a: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29326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1-System displays available eco challenges with goal, duration, and reward points.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 Actor selects and joins a challenge.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 System records the actor's baseline resource usage at the time of joining.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4- System periodically compares current usage against baseline (extends View Resource Usage).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5- Progress updates are sent to the actor via Receive Notifications.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6-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challenge completion, system evaluates whether the goal was met and awards reward points accordingly.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8975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actor does not meet the challenge goal, system notifies them and suggests a lower-difficulty challenge.</a:t>
                      </a:r>
                    </a:p>
                    <a:p>
                      <a:r>
                        <a:rPr lang="en-US" b="0" dirty="0"/>
                        <a:t>Alt2: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 may withdraw from a challenge at any time; no points are awarded and no penalty is applied.</a:t>
                      </a:r>
                    </a:p>
                    <a:p>
                      <a:r>
                        <a:rPr lang="en-US" b="0" dirty="0"/>
                        <a:t>Alt3: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no challenge is currently active, system displays past challenges and invites the actor to track general usage instead.</a:t>
                      </a: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033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42238"/>
              </p:ext>
            </p:extLst>
          </p:nvPr>
        </p:nvGraphicFramePr>
        <p:xfrm>
          <a:off x="0" y="1"/>
          <a:ext cx="12192000" cy="781210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UC-16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Generate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allow the user to monitor their progress against pre-defined energy or resource saving goals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Homeowner is Logged in and energy data exist in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report is generated and displayed to homeowner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1.System finds no data in the selected time span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2.Sensor Data Processing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Homeowner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user selects the “Generate Report" option from the Reports Section.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Homeowner navigates to the Reports section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displays report options (date range, type, appliances)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Homeowner selects the desired filters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dirty="0"/>
                        <a:t>System </a:t>
                      </a:r>
                      <a:r>
                        <a:rPr lang="pt-BR" b="1" dirty="0"/>
                        <a:t>processes sensor data</a:t>
                      </a:r>
                      <a:r>
                        <a:rPr lang="pt-BR" dirty="0"/>
                        <a:t> </a:t>
                      </a:r>
                      <a:r>
                        <a:rPr lang="pt-BR" i="1" dirty="0"/>
                        <a:t>(&lt;&lt;include&gt;&gt;)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compiles and formats the report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displays the generated report to the Homeowner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finds no data for the selected range -&gt;displays a “No data found” message to the user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Sensor data processing fails-&gt;System shows an error message -&gt; prompts user to 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772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63452"/>
              </p:ext>
            </p:extLst>
          </p:nvPr>
        </p:nvGraphicFramePr>
        <p:xfrm>
          <a:off x="0" y="1"/>
          <a:ext cx="12192000" cy="714571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54413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6737587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UC-17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 Export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 user to choose export format ( PDF , CSV , EXCEL)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report has been generated successfully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Report is exported and available for download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conversion fails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Automatically included when generating report( &lt;&lt;include&gt;&gt;)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prompts the user to choose file type (PDF,CSV,EXCEL)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Homeowner selects the preferred format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converts the report into the selected format</a:t>
                      </a:r>
                    </a:p>
                    <a:p>
                      <a:pPr marL="342900" indent="-342900">
                        <a:buAutoNum type="arabicPeriod" startAt="4"/>
                      </a:pPr>
                      <a:r>
                        <a:rPr lang="en-US" dirty="0"/>
                        <a:t>System provides a download link or saves the file</a:t>
                      </a:r>
                    </a:p>
                    <a:p>
                      <a:pPr marL="342900" indent="-342900">
                        <a:buAutoNum type="arabicPeriod" startAt="4"/>
                      </a:pPr>
                      <a:r>
                        <a:rPr lang="en-US" dirty="0"/>
                        <a:t>Homeowner downloads the exported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Alt1: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.Homeowner cancels (Chooses not to export )-&gt;system returns to export page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1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90444"/>
              </p:ext>
            </p:extLst>
          </p:nvPr>
        </p:nvGraphicFramePr>
        <p:xfrm>
          <a:off x="0" y="1"/>
          <a:ext cx="12192000" cy="1007514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UC-18 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–</a:t>
                      </a:r>
                      <a:r>
                        <a:rPr lang="ar-EG" b="0" dirty="0"/>
                        <a:t> </a:t>
                      </a:r>
                      <a:r>
                        <a:rPr lang="en-US" b="0" dirty="0"/>
                        <a:t>Manage users and roles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Helps homeowner to determine users’ roles and privileges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Homeowner is logged 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list or roles are updated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Homeowner failed to log 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Homeowner selects “Manage users and roles”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Homeowner opens the User Management section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2. System displays a list of current users and their assigned roles (e.g., Guest,   Homeowner, tendent)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 3.Homeowner selects an action: </a:t>
                      </a:r>
                      <a:r>
                        <a:rPr lang="en-US" b="1" dirty="0"/>
                        <a:t>Add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Edit</a:t>
                      </a:r>
                      <a:r>
                        <a:rPr lang="en-US" dirty="0"/>
                        <a:t>, or </a:t>
                      </a:r>
                      <a:r>
                        <a:rPr lang="en-US" b="1" dirty="0"/>
                        <a:t>Remove</a:t>
                      </a:r>
                      <a:r>
                        <a:rPr lang="en-US" dirty="0"/>
                        <a:t> a user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4. Homeowner fills in user details and assigns a role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5. System Asks for conformation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6. System validates the input 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7. System saves the changes and updates the user list 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8.System confirms the action with a success 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882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213675"/>
              </p:ext>
            </p:extLst>
          </p:nvPr>
        </p:nvGraphicFramePr>
        <p:xfrm>
          <a:off x="0" y="1"/>
          <a:ext cx="12192000" cy="871708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UC-19: Monitor Appliance Health.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continuously track the operational efficiency and physical condition of connected household appliances to ensure they are functioning within safe and optimal parameters.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1)Appliances must be compatible with and connected to the smart monitoring system.</a:t>
                      </a:r>
                    </a:p>
                    <a:p>
                      <a:r>
                        <a:rPr lang="en-US" dirty="0"/>
                        <a:t>2)Relevant sensors (e.g., vibration, temperature, or current sensors) must be active and calibrated.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1)Real-time health status data is updated in the system database.</a:t>
                      </a:r>
                    </a:p>
                    <a:p>
                      <a:r>
                        <a:rPr lang="en-US" dirty="0"/>
                        <a:t>2)Historical health logs are maintained for predictive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 Loss:</a:t>
                      </a:r>
                      <a:r>
                        <a:rPr lang="en-US" dirty="0"/>
                        <a:t> If an appliance loses connection, the system marks its status as "Unknown/Offline" and notifies the user via the system interface.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Initiator:</a:t>
                      </a:r>
                      <a:r>
                        <a:rPr lang="en-US" dirty="0"/>
                        <a:t> System.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process is triggered periodically by the system’s background monitoring service or when the </a:t>
                      </a:r>
                      <a:r>
                        <a:rPr lang="en-US" b="1" dirty="0"/>
                        <a:t>Process Sensor Data</a:t>
                      </a:r>
                      <a:r>
                        <a:rPr lang="en-US" dirty="0"/>
                        <a:t> module receives new telemetry from an appliance.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queries the connected appliances for performance data (e.g., motor speed, temperature, power draw).</a:t>
                      </a:r>
                    </a:p>
                    <a:p>
                      <a:r>
                        <a:rPr lang="en-US" dirty="0"/>
                        <a:t>2)The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compares the gathered data against baseline "healthy" performance metrics.</a:t>
                      </a:r>
                    </a:p>
                    <a:p>
                      <a:r>
                        <a:rPr lang="en-US" dirty="0"/>
                        <a:t>3)The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determines that the appliance is operating within normal limits.</a:t>
                      </a:r>
                    </a:p>
                    <a:p>
                      <a:r>
                        <a:rPr lang="en-US" dirty="0"/>
                        <a:t>4)The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updates the appliance dashboard with a "Healthy" status.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Degraded Performance (Maintenance Extension):</a:t>
                      </a:r>
                      <a:r>
                        <a:rPr lang="en-US" dirty="0"/>
                        <a:t> If the health check reveals a minor deviation from the norm, the system triggers the </a:t>
                      </a:r>
                      <a:r>
                        <a:rPr lang="en-US" b="1" dirty="0"/>
                        <a:t>Maintenance Alert</a:t>
                      </a:r>
                      <a:r>
                        <a:rPr lang="en-US" dirty="0"/>
                        <a:t> use case.</a:t>
                      </a:r>
                    </a:p>
                    <a:p>
                      <a:r>
                        <a:rPr lang="en-US" b="1" dirty="0"/>
                        <a:t>Critical Fault:</a:t>
                      </a:r>
                      <a:r>
                        <a:rPr lang="en-US" dirty="0"/>
                        <a:t> If the health check detects an immediate mechanical failure, the system may trigger </a:t>
                      </a:r>
                      <a:r>
                        <a:rPr lang="en-US" b="1" dirty="0"/>
                        <a:t>Detect Anomalies</a:t>
                      </a:r>
                      <a:r>
                        <a:rPr lang="en-US" dirty="0"/>
                        <a:t> to assess the risk of fire or damage.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346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016530"/>
              </p:ext>
            </p:extLst>
          </p:nvPr>
        </p:nvGraphicFramePr>
        <p:xfrm>
          <a:off x="0" y="1"/>
          <a:ext cx="12192000" cy="937094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UC-20: Maintenance Alert.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notify the user when an appliance requires service, filter replacement, or repair based on health monitoring data to prevent total hardware failure.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1)The "Monitor Appliance Health" function must be active and collecting performance data.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2)Maintenance thresholds (e.g., hours of use or efficiency levels) must be predefined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1)The user is informed of the specific appliance needing attention.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2)The maintenance status is logged in the appliance's history for future reference.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Communication Timeout:</a:t>
                      </a:r>
                      <a:r>
                        <a:rPr lang="en-US" dirty="0"/>
                        <a:t> If the system cannot reach the user's device, the alert remains pending and triggers a local visual indicator on the smart home hub if available.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Initiator: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System.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Recipient: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Homeowner.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use case is triggered as an "extend" relationship from </a:t>
                      </a:r>
                      <a:r>
                        <a:rPr lang="en-US" b="1" dirty="0"/>
                        <a:t>Monitor Appliance Health</a:t>
                      </a:r>
                      <a:r>
                        <a:rPr lang="en-US" dirty="0"/>
                        <a:t> when sensors detect a decline in performance or a scheduled maintenance interval is reached.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1)The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continuously monitors the "Monitor Appliance Health" metrics.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2)The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identifies a maintenance requirement (e.g., an AC filter is 90% clogged).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3)The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generates a specific </a:t>
                      </a:r>
                      <a:r>
                        <a:rPr lang="en-US" b="1" dirty="0"/>
                        <a:t>Maintenance Alert</a:t>
                      </a:r>
                      <a:r>
                        <a:rPr lang="en-US" dirty="0"/>
                        <a:t>.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4) 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executes the </a:t>
                      </a:r>
                      <a:r>
                        <a:rPr lang="en-US" b="1" dirty="0"/>
                        <a:t>Receive Notifications</a:t>
                      </a:r>
                      <a:r>
                        <a:rPr lang="en-US" dirty="0"/>
                        <a:t> use case to deliver the alert to the Home Owner.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5)The </a:t>
                      </a:r>
                      <a:r>
                        <a:rPr lang="en-US" b="1" dirty="0"/>
                        <a:t>Home Owner</a:t>
                      </a:r>
                      <a:r>
                        <a:rPr lang="en-US" dirty="0"/>
                        <a:t> acknowledges the alert.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Escalated Maintenance:</a:t>
                      </a:r>
                      <a:r>
                        <a:rPr lang="en-US" dirty="0"/>
                        <a:t> If the alert is ignored and the appliance health continues to drop, the system may trigger a </a:t>
                      </a:r>
                      <a:r>
                        <a:rPr lang="en-US" b="1" dirty="0"/>
                        <a:t>Detect Anomalies</a:t>
                      </a:r>
                      <a:r>
                        <a:rPr lang="en-US" dirty="0"/>
                        <a:t> scenario to prevent a fire or flood.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111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92234"/>
              </p:ext>
            </p:extLst>
          </p:nvPr>
        </p:nvGraphicFramePr>
        <p:xfrm>
          <a:off x="0" y="1"/>
          <a:ext cx="12192000" cy="931770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UC-21:Receive Notifications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provide the user or the system with real-time alerts regarding consumption status, budget limits, or appliance malfunctions to ensure timely interaction with the smart home environment.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1)The user must be logged into the system.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en-US" dirty="0"/>
                        <a:t> Notification permissions must be enabled on the user's device.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en-US" dirty="0"/>
                        <a:t> specific event must occur that triggers an alert, such as a budget overrun,               maintenance need, or anomaly detection.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1)The notification is successfully delivered to the targeted actor.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en-US" dirty="0"/>
                        <a:t> The alert is recorded in the system's notification history log.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Delivery Failure:</a:t>
                      </a:r>
                      <a:r>
                        <a:rPr lang="en-US" dirty="0"/>
                        <a:t> If there is a network error, the system queues the notification and attempts to resend it once the connection is restored.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Initiator:</a:t>
                      </a:r>
                      <a:r>
                        <a:rPr lang="en-US" dirty="0"/>
                        <a:t> System.</a:t>
                      </a:r>
                    </a:p>
                    <a:p>
                      <a:r>
                        <a:rPr lang="en-US" b="1" dirty="0"/>
                        <a:t>Secondary Actor(s):</a:t>
                      </a:r>
                      <a:r>
                        <a:rPr lang="en-US" dirty="0"/>
                        <a:t> Home Owner, Tenant.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use case is triggered automatically via "extend" relationships from other functions like </a:t>
                      </a:r>
                      <a:r>
                        <a:rPr lang="en-US" b="1" dirty="0"/>
                        <a:t>Budget Overrun Alert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Maintenance Alert</a:t>
                      </a:r>
                      <a:r>
                        <a:rPr lang="en-US" dirty="0"/>
                        <a:t>, or </a:t>
                      </a:r>
                      <a:r>
                        <a:rPr lang="en-US" b="1" dirty="0"/>
                        <a:t>Detect Anomalies</a:t>
                      </a:r>
                      <a:r>
                        <a:rPr lang="en-US" dirty="0"/>
                        <a:t>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System identifies a specific event (e.g., resource usage exceeding the goal).</a:t>
                      </a:r>
                    </a:p>
                    <a:p>
                      <a:r>
                        <a:rPr lang="en-US" dirty="0"/>
                        <a:t>2)The System generates a notification message based on the event type.</a:t>
                      </a:r>
                    </a:p>
                    <a:p>
                      <a:r>
                        <a:rPr lang="en-US" dirty="0"/>
                        <a:t>3)The System identifies the relevant actors assigned to receive that specific alert (Homeowner or Tenant).</a:t>
                      </a:r>
                    </a:p>
                    <a:p>
                      <a:r>
                        <a:rPr lang="en-US" dirty="0"/>
                        <a:t>4)The System pushes the notification to the actor's interface or registered device.</a:t>
                      </a:r>
                    </a:p>
                    <a:p>
                      <a:r>
                        <a:rPr lang="en-US" dirty="0"/>
                        <a:t>5)The Actor receives and views the notification details.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Maintenance Alerts:</a:t>
                      </a:r>
                      <a:r>
                        <a:rPr lang="en-US" dirty="0"/>
                        <a:t> Triggered specifically when the "Monitor Appliance Health" function detects a potential failure.</a:t>
                      </a:r>
                    </a:p>
                    <a:p>
                      <a:r>
                        <a:rPr lang="en-US" b="1" dirty="0"/>
                        <a:t>Emergency Shutdown:</a:t>
                      </a:r>
                      <a:r>
                        <a:rPr lang="en-US" dirty="0"/>
                        <a:t> In the event of a severe anomaly, the system sends an urgent notification simultaneously with performing an emergency shutdown.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56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7021"/>
              </p:ext>
            </p:extLst>
          </p:nvPr>
        </p:nvGraphicFramePr>
        <p:xfrm>
          <a:off x="0" y="1"/>
          <a:ext cx="12192000" cy="944107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UC-22: Detect Anomalies.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monitors resource consumption and sensor data in real-time to identify irregular patterns (anomalies) that could indicate leaks, electrical faults, or security breaches.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system must be active and receiving a continuous stream of data from household sensors.</a:t>
                      </a:r>
                    </a:p>
                    <a:p>
                      <a:r>
                        <a:rPr lang="en-US" dirty="0"/>
                        <a:t>2)Baseline usage data or predefined safety thresholds must be established for comparison.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identified anomaly is logged in the system.</a:t>
                      </a:r>
                    </a:p>
                    <a:p>
                      <a:r>
                        <a:rPr lang="en-US" dirty="0"/>
                        <a:t>2)If the anomaly is critical, an emergency protocol is initiated.</a:t>
                      </a:r>
                    </a:p>
                    <a:p>
                      <a:r>
                        <a:rPr lang="en-US" dirty="0"/>
                        <a:t>3)The relevant actors are notified of the detected issue.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Sensor Failure:</a:t>
                      </a:r>
                      <a:r>
                        <a:rPr lang="en-US" dirty="0"/>
                        <a:t> If a sensor stops reporting, the system marks the data as "Incomplete" and alerts the user to check the hardware.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False Positive:</a:t>
                      </a:r>
                      <a:r>
                        <a:rPr lang="en-US" dirty="0"/>
                        <a:t> If normal high usage (e.g., a party) is flagged as an anomaly, the user can dismiss the alert and update the system's learning parameters.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Initiator:</a:t>
                      </a:r>
                      <a:r>
                        <a:rPr lang="en-US" dirty="0"/>
                        <a:t> System (Automated monitoring).</a:t>
                      </a:r>
                    </a:p>
                    <a:p>
                      <a:r>
                        <a:rPr lang="en-US" b="1" dirty="0"/>
                        <a:t>Secondary Actor:</a:t>
                      </a:r>
                      <a:r>
                        <a:rPr lang="en-US" dirty="0"/>
                        <a:t> Homeowner (Recipient of anomaly data).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Detection of data points that deviate significantly from historical patterns or exceed safety thresholds defined in the "Process Sensor Data" or "Historical Data Analysis" modules.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continuously analyzes incoming resource data. </a:t>
                      </a:r>
                    </a:p>
                    <a:p>
                      <a:r>
                        <a:rPr lang="en-US" dirty="0"/>
                        <a:t>2) 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identifies a deviation (e.g., unusual water flow at 3 AM).</a:t>
                      </a:r>
                    </a:p>
                    <a:p>
                      <a:r>
                        <a:rPr lang="en-US" dirty="0"/>
                        <a:t>3) 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validates the anomaly against historical usage trends.</a:t>
                      </a:r>
                    </a:p>
                    <a:p>
                      <a:r>
                        <a:rPr lang="en-US" dirty="0"/>
                        <a:t>4) 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triggers the </a:t>
                      </a:r>
                      <a:r>
                        <a:rPr lang="en-US" b="1" dirty="0"/>
                        <a:t>Receive Notifications</a:t>
                      </a:r>
                      <a:r>
                        <a:rPr lang="en-US" dirty="0"/>
                        <a:t> use case to alert the Homeowner.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Critical Hazard:</a:t>
                      </a:r>
                      <a:r>
                        <a:rPr lang="en-US" dirty="0"/>
                        <a:t> If the anomaly is categorized as dangerous (e.g., a gas leak or electrical surge), the system automatically triggers the </a:t>
                      </a:r>
                      <a:r>
                        <a:rPr lang="en-US" b="1" dirty="0"/>
                        <a:t>Emergency Shutdown</a:t>
                      </a:r>
                      <a:r>
                        <a:rPr lang="en-US" dirty="0"/>
                        <a:t> use case.</a:t>
                      </a:r>
                    </a:p>
                    <a:p>
                      <a:r>
                        <a:rPr lang="en-US" b="1" dirty="0"/>
                        <a:t>Maintenance Link:</a:t>
                      </a:r>
                      <a:r>
                        <a:rPr lang="en-US" dirty="0"/>
                        <a:t> If the anomaly suggests a slow degradation of an appliance, it triggers a </a:t>
                      </a:r>
                      <a:r>
                        <a:rPr lang="en-US" b="1" dirty="0"/>
                        <a:t>Maintenance Alert</a:t>
                      </a:r>
                      <a:r>
                        <a:rPr lang="en-US" dirty="0"/>
                        <a:t> instead of an emergency protocol.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18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32176"/>
              </p:ext>
            </p:extLst>
          </p:nvPr>
        </p:nvGraphicFramePr>
        <p:xfrm>
          <a:off x="0" y="1"/>
          <a:ext cx="12192000" cy="998971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UC-23: Emergency Shutdown.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automatically or manually cut off power or resource flow to specific appliances or the entire home to prevent damage, fire, or flooding during a critical event.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system must have control over the hardware interfaces (Smart Breakers/Valves).</a:t>
                      </a:r>
                    </a:p>
                    <a:p>
                      <a:r>
                        <a:rPr lang="en-US" dirty="0"/>
                        <a:t>2)A critical anomaly must be detected, or a manual emergency command must be issued by the Homeowner.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affected resources (Electricity/Water/Gas) are successfully disconnected.</a:t>
                      </a:r>
                    </a:p>
                    <a:p>
                      <a:r>
                        <a:rPr lang="en-US" dirty="0"/>
                        <a:t>2)The system state is locked until a manual safety reset is performed.</a:t>
                      </a:r>
                    </a:p>
                    <a:p>
                      <a:r>
                        <a:rPr lang="en-US" dirty="0"/>
                        <a:t>3)A high-priority notification is sent to all relevant actors.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Hardware Failure:</a:t>
                      </a:r>
                      <a:r>
                        <a:rPr lang="en-US" dirty="0"/>
                        <a:t> If a valve or breaker fails to close, the system triggers a continuous audible alarm and sends repeated urgent "Mechanical Failure" alerts to the user's device.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Initiator:</a:t>
                      </a:r>
                      <a:r>
                        <a:rPr lang="en-US" dirty="0"/>
                        <a:t> System (via Detect Anomalies).</a:t>
                      </a:r>
                    </a:p>
                    <a:p>
                      <a:r>
                        <a:rPr lang="en-US" b="1" dirty="0"/>
                        <a:t>Secondary Actor:</a:t>
                      </a:r>
                      <a:r>
                        <a:rPr lang="en-US" dirty="0"/>
                        <a:t> Homeowner (can also initiate manually).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 case is triggered as an "extend" relationship from </a:t>
                      </a:r>
                      <a:r>
                        <a:rPr lang="en-US" b="1" dirty="0"/>
                        <a:t>Detect Anomalies</a:t>
                      </a:r>
                      <a:r>
                        <a:rPr lang="en-US" dirty="0"/>
                        <a:t> when the detected deviation is categorized as "Life-Threatening" or "Critical Property Risk".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identifies a critical anomaly (e.g., a massive surge in electrical current or a major water leak). </a:t>
                      </a:r>
                    </a:p>
                    <a:p>
                      <a:r>
                        <a:rPr lang="en-US" dirty="0"/>
                        <a:t>2)The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immediately executes the </a:t>
                      </a:r>
                      <a:r>
                        <a:rPr lang="en-US" b="1" dirty="0"/>
                        <a:t>Emergency Shutdown</a:t>
                      </a:r>
                      <a:r>
                        <a:rPr lang="en-US" dirty="0"/>
                        <a:t> protocol.</a:t>
                      </a:r>
                    </a:p>
                    <a:p>
                      <a:r>
                        <a:rPr lang="en-US" dirty="0"/>
                        <a:t>3)The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sends commands to smart valves or circuit breakers to terminate the resource flow. </a:t>
                      </a:r>
                    </a:p>
                    <a:p>
                      <a:r>
                        <a:rPr lang="en-US" dirty="0"/>
                        <a:t>4)The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confirms the successful disconnection of the resource. </a:t>
                      </a:r>
                    </a:p>
                    <a:p>
                      <a:r>
                        <a:rPr lang="en-US" dirty="0"/>
                        <a:t>5)The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triggers </a:t>
                      </a:r>
                      <a:r>
                        <a:rPr lang="en-US" b="1" dirty="0"/>
                        <a:t>Receive Notifications</a:t>
                      </a:r>
                      <a:r>
                        <a:rPr lang="en-US" dirty="0"/>
                        <a:t> to inform the Home Owner of the specific reason for the shutdown.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Manual Override:</a:t>
                      </a:r>
                      <a:r>
                        <a:rPr lang="en-US" dirty="0"/>
                        <a:t> The Homeowner sees a physical danger (not yet detected by sensors) and triggers the shutdown directly through the </a:t>
                      </a:r>
                      <a:r>
                        <a:rPr lang="en-US" b="1" dirty="0"/>
                        <a:t>Manage Appliances</a:t>
                      </a:r>
                      <a:r>
                        <a:rPr lang="en-US" dirty="0"/>
                        <a:t> interface.</a:t>
                      </a:r>
                    </a:p>
                    <a:p>
                      <a:r>
                        <a:rPr lang="en-US" b="1" dirty="0"/>
                        <a:t>Partial Shutdown:</a:t>
                      </a:r>
                      <a:r>
                        <a:rPr lang="en-US" dirty="0"/>
                        <a:t> If the anomaly is localized (e.g., only the kitchen), the system shuts down only the affected zone rather than the entire house.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715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317864"/>
              </p:ext>
            </p:extLst>
          </p:nvPr>
        </p:nvGraphicFramePr>
        <p:xfrm>
          <a:off x="0" y="1"/>
          <a:ext cx="12192000" cy="982959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UC-24: Manage Account.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allow users to create a new profile or access an existing one to interact with the monitoring system.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1)The user must have the application installed or access the web portal.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2)The system must be connected to the internet to verify credentials against the database.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1)The user is granted access to the system dashboard based on their role (Home Owner, Tenant, or Guest).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2)An active session is established for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 Credentials: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system remains on the login screen and displays an error message.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Duplicate Registration: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an email is already in use, the system prevents the creation of a second account and prompts for a password reset.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1)Homeowner.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2)Tenant.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3)Guest.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user opens the application and attempts to access features that require authentication, such as "View Resource Usage" or "Manage Appliances".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1)The </a:t>
                      </a:r>
                      <a:r>
                        <a:rPr lang="en-US" b="1" dirty="0"/>
                        <a:t>User</a:t>
                      </a:r>
                      <a:r>
                        <a:rPr lang="en-US" dirty="0"/>
                        <a:t> selects the "Manage Account" option.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2)The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displays the account portal.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3)The </a:t>
                      </a:r>
                      <a:r>
                        <a:rPr lang="en-US" b="1" dirty="0"/>
                        <a:t>User</a:t>
                      </a:r>
                      <a:r>
                        <a:rPr lang="en-US" dirty="0"/>
                        <a:t> chooses to either </a:t>
                      </a:r>
                      <a:r>
                        <a:rPr lang="en-US" b="1" dirty="0"/>
                        <a:t>Login</a:t>
                      </a:r>
                      <a:r>
                        <a:rPr lang="en-US" dirty="0"/>
                        <a:t> (for existing users) or </a:t>
                      </a:r>
                      <a:r>
                        <a:rPr lang="en-US" b="1" dirty="0"/>
                        <a:t>Register</a:t>
                      </a:r>
                      <a:r>
                        <a:rPr lang="en-US" dirty="0"/>
                        <a:t> (for new users).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4)The </a:t>
                      </a:r>
                      <a:r>
                        <a:rPr lang="en-US" b="1" dirty="0"/>
                        <a:t>User</a:t>
                      </a:r>
                      <a:r>
                        <a:rPr lang="en-US" dirty="0"/>
                        <a:t> enters the required information (e.g., username, password, email).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5)The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validates the data.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6)The </a:t>
                      </a:r>
                      <a:r>
                        <a:rPr lang="en-US" b="1" dirty="0"/>
                        <a:t>System</a:t>
                      </a:r>
                      <a:r>
                        <a:rPr lang="en-US" dirty="0"/>
                        <a:t> redirects the user to the main monitoring dashboard.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Registration (Extension Point):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new user provides personal details and sets a password to create a profile.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 (Extension Point):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 existing user provides credentials to verify their identity and permissions.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Social Login: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user may use a third-party account (like Google) to register or login instantly.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971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19271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UC-25:  Multi-Unit Conversion Manager.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convert raw resource usage data (e.g., kWh, liters) into different units such as monetary cost or carbon footprint for user display.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Sufficient historical usage data exists in the database.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consumption baseline is saved and used for future comparisons.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Insufficient data prevents baseline creation; system continues using generic factory defaults.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Admin (included by Detect Anomalies).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Triggered by the "Detect Anomalies" use case or a scheduled system maintenance task.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1)System analyzes historical data.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2) System calculates averages and standard deviations.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3)System saves the baseline profile. 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manually adjusts the baseline parameters to account for seasonal changes (e.g., summer vs. </a:t>
                      </a:r>
                      <a:r>
                        <a:rPr lang="en-US"/>
                        <a:t>winter).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26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697454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67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UC-26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Baselines Generator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establish "normal" consumption patterns based on historical data to enable anomaly detection.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Sufficient historical usage data exists in the database.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consumption baseline is saved and used for future comparisons.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Insufficient data prevents baseline creation; system continues using generic factory defaults.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"Detect Anomalies" use case or a scheduled system maintenance task</a:t>
                      </a:r>
                      <a:r>
                        <a:rPr lang="en-US" dirty="0"/>
                        <a:t>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System analyzes historical data.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System calculates averages and standard deviations.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System saves the baseline profile.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 manually adjusts the baseline parameters to account for seasonal changes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455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688645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67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UC-27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Appliance Signature Library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maintain and provide a database of electrical "signatures" that allow the system to identify specific appliances.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The library is populated with known appliance power profiles.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system successfully identifies which appliance is consuming power.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Signature not found; appliance is labeled as "Unknown Device." </a:t>
                      </a: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data is processed to identify active loads.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receives raw power wave data.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compares data against the signature library.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returns the appliance name/type.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learns a new signature when a user identifies an "Unknown Device" manually.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33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4622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67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UC-28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Degradation Simulator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predict the wear and tear of appliances over time based on usage intensity and patterns.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Active monitoring of appliance health is enabled. </a:t>
                      </a: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Updated health status and "Remaining Useful Life" estimation for the appliance. </a:t>
                      </a: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Faulty sensor data leads to inaccurate degradation predictions.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appliance completes a specific number of operational hours or cycles.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retrieves usage history.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applies degradation models.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System updates appliance health metrics.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requests a manual health simulation report for a specific appliance.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206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UC-29:  </a:t>
                      </a:r>
                      <a:r>
                        <a:rPr lang="en-US" dirty="0"/>
                        <a:t>Smart-Plug Association Logic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logically map a specific smart plug hardware ID to a specific appliance in the software.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Smart plug is connected to the network and an appliance is plugged in.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 data from the plug is correctly attributed to the associated appliance.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plug is moved to a different appliance without updating the association, causing incorrect reporting.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Homeowner (via Manage Appliances).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new smart plug is added or an appliance is reassigned.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1)User selects "Add/Edit Appliance.“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2) User selects the specific smart plug.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3) System saves the link.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The system uses the "Appliance Signature Library" to automatically suggest an association.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716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10463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UC-30:  </a:t>
                      </a:r>
                      <a:r>
                        <a:rPr lang="en-US" dirty="0"/>
                        <a:t>Appliance Lifecycle Tracker.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track the age, warranty status, and maintenance history of an appliance throughout its life.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Appliance details (purchase date, warranty) must be entered.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complete digital log of the appliance's life is maintained.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Missing purchase records lead to inaccurate warranty alerts.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Admin (included by Monitor Appliance Health)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Maintenance is performed, or the appliance reaches a milestone (e.g., 5 years old).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1)System logs every maintenance event.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2) System monitors age against typical lifespan.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3) System notifies user of lifecycle stage.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manually updates the tracker after an external repair.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274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UC-31:  </a:t>
                      </a:r>
                      <a:r>
                        <a:rPr lang="en-US" dirty="0"/>
                        <a:t>Duty Cycle Monitor.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monitor the ratio of "on" time vs "off" time for cyclical appliances like refrigerators or HVACs.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appliance must be recognized as a cyclical device.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Detection of inefficient cycles (e.g., compressor running too long).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External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 spikes cause a false "inefficient cycle" </a:t>
                      </a:r>
                      <a:r>
                        <a:rPr lang="fr-FR" dirty="0" err="1"/>
                        <a:t>alarm</a:t>
                      </a:r>
                      <a:r>
                        <a:rPr lang="fr-FR" dirty="0"/>
                        <a:t>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Admin (extending Detect Anomalies).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monitoring of power state transitions.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1)System </a:t>
                      </a:r>
                      <a:r>
                        <a:rPr lang="en-US" dirty="0"/>
                        <a:t>records start/stop times.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2) System calculates duty cycle percentage.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3) System compares against the "Resource Baseline."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ignores short cycles caused by momentary power flickers.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322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05762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UC-32 Device Firmware Update Simulator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test the impact of a firmware update in a virtual environment before applying it to physical smart devices.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new firmware version is available.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Report confirming if the update is safe and compatible with current logic.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Simulation fails due to incompatible virtual models.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Admin (extending Manage Appliances).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 update is received from the manufacturer.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System loads the virtual device model. 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2. System applies the update in the simulator.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3. System runs functionality tests.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Skip simulation and apply update directly if it is a critical security patch.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912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" action="ppaction://ole?verb=0"/>
            <a:extLst>
              <a:ext uri="{FF2B5EF4-FFF2-40B4-BE49-F238E27FC236}">
                <a16:creationId xmlns:a16="http://schemas.microsoft.com/office/drawing/2014/main" id="{FE379618-47F0-D03F-6B19-F8947D403C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5715233" imgH="3214362" progId="PowerPoint.Show.12">
                  <p:embed/>
                </p:oleObj>
              </mc:Choice>
              <mc:Fallback>
                <p:oleObj name="Presentation" r:id="rId2" imgW="5715233" imgH="3214362" progId="PowerPoint.Show.12">
                  <p:embed/>
                  <p:pic>
                    <p:nvPicPr>
                      <p:cNvPr id="2" name="Object 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E379618-47F0-D03F-6B19-F8947D403C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7534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760918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UC-34 Weather-Correlation Engine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 adjust expected resource usage (primarily gas and electricity) based on simulated external temperature fluctuations. The 'Hyper-Static Proxy-Observer' pattern is utilized here to manage the state-persistence of weather-impact objects across the PHP session.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Sensor Data Mock-Generator must be active and providing external temperature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provides an adjusted consumption forecast that accounts for thermal loss or cooling needs.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If weather data is unavailable, the system reverts to standard baseline usage. The final return statement includes an Instructor-Mandated Scaling factor of 13.37 to maintain parity with the TA test suite.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(Automated Logic).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Detection of a simulated external temperature drop or spike exceeding 5°C.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The Observer detects a change in simulated weather.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2. The Proxy retrieves historical usage data for similar temperature ranges.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3. The engine calculates the correlation.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4. Requirements are validated using the Al-Masri (2025) framework.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manually triggers a "Winter Scenario" within the What-If Simulator to see potential billing impacts.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856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CFC6F3-7208-9227-5377-293805C6AAB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803925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388894050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3213782846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UC-35 Predictive Billing Algorithm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768261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Using the last 7 days of simulated usage to project the total estimated bill for the current month. This function uses the 'Hyper-Static Proxy-Observer' pattern to ensure the projection object remains consistent despite stateless PHP refreshes.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36216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 least 7 days of simulated usage data must be stored in the Historical Data Aggregator.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07285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projected monthly total is displayed on the user dashboard.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97150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If data is insufficient, the system displays "Projection Pending." All final calculations are multiplied by the Normalization Factor of 13.37 as per the Spring 2026 directive.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61497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Homeowner, Tenant.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282765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navigates to the "Budget &amp; Billing" tab or a weekly summary report is </a:t>
                      </a:r>
                      <a:r>
                        <a:rPr lang="en-US" dirty="0" err="1"/>
                        <a:t>generatDetection</a:t>
                      </a:r>
                      <a:r>
                        <a:rPr lang="en-US" dirty="0"/>
                        <a:t> of a simulated external temperature drop or spike exceeding 5°C.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538266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System pulls usage data from the last 168 hours.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2. The algorithm applies the Tiered Tariff Calculation Engine logic.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3. The projection is finalized and verified against the Al-Masri (2025) verification matrix.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1836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20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20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2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 If a "Vacation Mode" is active, the algorithm ignores the last 7 days and uses the "Empty House" profile for projection.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06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94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8629</Words>
  <Application>Microsoft Office PowerPoint</Application>
  <PresentationFormat>Widescreen</PresentationFormat>
  <Paragraphs>890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Tariq Muhammad Ahmed Ibrahim Araban</cp:lastModifiedBy>
  <cp:revision>21</cp:revision>
  <dcterms:created xsi:type="dcterms:W3CDTF">2026-04-05T05:37:04Z</dcterms:created>
  <dcterms:modified xsi:type="dcterms:W3CDTF">2026-04-15T19:24:52Z</dcterms:modified>
</cp:coreProperties>
</file>